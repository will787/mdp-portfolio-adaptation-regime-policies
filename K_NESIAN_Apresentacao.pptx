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  <a:latin typeface="Arial"/>
              </a:defRPr>
            </a:pPr>
            <a:r>
              <a:t>K-NESIAN: Alocação Dinâmica sob Incerteza Radical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3657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  <a:latin typeface="Courier New"/>
              </a:defRPr>
            </a:pPr>
            <a:r>
              <a:t>QUANT ROBOT • B3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3474720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1. Identidade do Robô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O K-NESIAN é um robô quantitativo fundamentado na teoria de John Maynard Keynes sobre Incerteza Radical e Preferência pela Liquidez.</a:t>
            </a:r>
          </a:p>
          <a:p>
            <a:br/>
            <a:pPr>
              <a:defRPr sz="1300">
                <a:solidFill>
                  <a:srgbClr val="38BDF8"/>
                </a:solidFill>
              </a:defRPr>
            </a:pPr>
            <a:r>
              <a:t>• Core Tecnológico: Aprendizado de Máquina Não Supervisionado (Gaussian HMM) + Programação Dinâmica (Equação de Bellman em MDP).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94960" cy="3474720"/>
          </a:xfrm>
          <a:prstGeom prst="roundRect">
            <a:avLst/>
          </a:prstGeom>
          <a:solidFill>
            <a:srgbClr val="0F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2. Hipótese &amp; Ineficiência Explorada</a:t>
            </a:r>
          </a:p>
          <a:p>
            <a:br/>
            <a:pPr>
              <a:defRPr sz="1300">
                <a:solidFill>
                  <a:srgbClr val="F87171"/>
                </a:solidFill>
              </a:defRPr>
            </a:pPr>
            <a:r>
              <a:t>• Falha dos Modelos Tradicionais: Otimizadores clássicos (Markowitz) assumem risco estático. Em choques, os mercados operam sob Incerteza Radical (animal spirits).</a:t>
            </a:r>
          </a:p>
          <a:p>
            <a:br/>
            <a:pPr>
              <a:defRPr sz="1300">
                <a:solidFill>
                  <a:srgbClr val="4ADE80"/>
                </a:solidFill>
              </a:defRPr>
            </a:pPr>
            <a:r>
              <a:t>• Solução K-NESIAN: O HMM mapeia estados latentes e a Equação de Bellman ajusta preventivamente a exposição entre Ações B3 e Caixa CDI.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DIAGRAMA CONCEITUAL DO CICLO DE DECISÃO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1. Sinais Macroeconômicos  ➔  2. Regimes HMM (4 Estados)  ➔  3. Equação de Bellman (MDP)  ➔  4. Alocação Ótima (Risco vs. Liquidez)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  <a:latin typeface="Arial"/>
              </a:defRPr>
            </a:pPr>
            <a:r>
              <a:t>Modelagem Quantitativa &amp; Pipeline de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3657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  <a:latin typeface="Courier New"/>
              </a:defRPr>
            </a:pPr>
            <a:r>
              <a:t>FEATURE STORE &amp; BELLMAN MDP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1. Feature Store (macro_features_hmm.parquet)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Ativos de Risco: Top 20 ações mais líquidas da B3 (ITUB4, PETR4, VALE3, BBDC4...).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Caixa Defensivo: Ativo livre de risco remunerado a 100% do CDI diário.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Features Macro: Volatilidade Ibov, VIX Z-score, Selic, CDS 5Y, Commodities e PTAX.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94960" cy="4937760"/>
          </a:xfrm>
          <a:prstGeom prst="roundRect">
            <a:avLst/>
          </a:prstGeom>
          <a:solidFill>
            <a:srgbClr val="0F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2. Modelagem em Duas Etapas</a:t>
            </a:r>
          </a:p>
          <a:p>
            <a:br/>
            <a:pPr>
              <a:defRPr sz="1300">
                <a:solidFill>
                  <a:srgbClr val="38BDF8"/>
                </a:solidFill>
              </a:defRPr>
            </a:pPr>
            <a:r>
              <a:t>Etapa 1 — GaussianHMM: Mapeamento não supervisionado em 4 estados latentes de risco (Baixo, Moderado, Alto, Pânico).</a:t>
            </a:r>
          </a:p>
          <a:p>
            <a:br/>
            <a:pPr>
              <a:defRPr sz="1300" b="1">
                <a:solidFill>
                  <a:srgbClr val="F59E0B"/>
                </a:solidFill>
              </a:defRPr>
            </a:pPr>
            <a:r>
              <a:t>Etapa 2 — Equação de Bellman MDP:</a:t>
            </a:r>
          </a:p>
          <a:p>
            <a:pPr>
              <a:defRPr sz="1500" b="1">
                <a:solidFill>
                  <a:srgbClr val="F8FAFC"/>
                </a:solidFill>
                <a:latin typeface="Courier New"/>
              </a:defRPr>
            </a:pPr>
            <a:r>
              <a:t>V(s) = max_a { R(s,a) + γ ∑ P(s'|s,a) V(s') 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  <a:latin typeface="Arial"/>
              </a:defRPr>
            </a:pPr>
            <a:r>
              <a:t>Backtest Rigoroso &amp; Atritos Operacionais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3657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  <a:latin typeface="Courier New"/>
              </a:defRPr>
            </a:pPr>
            <a:r>
              <a:t>WALK-FORWARD &amp; NORMAS B3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4572000" cy="4937760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Validação Out-of-Sample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Metodologia Walk-Forward: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Re-treinamento periódico a cada janela de 1 ano com memória histórica móvel de 4 anos.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Isenção Total de Look-ahead Bias: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Garantia de que o modelo não consulta dados do futuro.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Redução de Overfitting: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Estabilidade de parâmetros testada em múltiplos cenários.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94960" y="1280160"/>
          <a:ext cx="62179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2560320"/>
              </a:tblGrid>
              <a:tr h="8229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329"/>
                          </a:solidFill>
                        </a:defRPr>
                      </a:pPr>
                      <a:r>
                        <a:t>Parâmetro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329"/>
                          </a:solidFill>
                        </a:defRPr>
                      </a:pPr>
                      <a:r>
                        <a:t>Implementação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329"/>
                          </a:solidFill>
                        </a:defRPr>
                      </a:pPr>
                      <a:r>
                        <a:t>Função no Modelo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Liquidação Física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Fila real em D+2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Bloqueia reinvestimento imediato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Rendimento Caixa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100% CDI diário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Custo de oportunidade realista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Tributação Caixa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22.5% IR sobre RF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Realismo fiscal na rentabilidade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Custos Operacionais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Corretagem 0.5% + Slippage 0.3%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Penaliza turnover excessivo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Gestão de Risco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Limites (3% min / 8% máx)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Elimina risco de concentração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  <a:latin typeface="Arial"/>
              </a:defRPr>
            </a:pPr>
            <a:r>
              <a:t>Análise Crítica dos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3657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  <a:latin typeface="Courier New"/>
              </a:defRPr>
            </a:pPr>
            <a:r>
              <a:t>PERFORMANCE &amp;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029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329"/>
                          </a:solidFill>
                        </a:defRPr>
                      </a:pPr>
                      <a:r>
                        <a:t>Estratégia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329"/>
                          </a:solidFill>
                        </a:defRPr>
                      </a:pPr>
                      <a:r>
                        <a:t>Retorno Acumulado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329"/>
                          </a:solidFill>
                        </a:defRPr>
                      </a:pPr>
                      <a:r>
                        <a:t>Índice Sharpe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329"/>
                          </a:solidFill>
                        </a:defRPr>
                      </a:pPr>
                      <a:r>
                        <a:t>Max Drawdown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329"/>
                          </a:solidFill>
                        </a:defRPr>
                      </a:pPr>
                      <a:r>
                        <a:t>Volatilidade Anual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DE80"/>
                          </a:solidFill>
                        </a:defRPr>
                      </a:pPr>
                      <a:r>
                        <a:t>K-NESIAN (Bellman MDP)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DE80"/>
                          </a:solidFill>
                        </a:defRPr>
                      </a:pPr>
                      <a:r>
                        <a:t>Outperformance Quant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DE80"/>
                          </a:solidFill>
                        </a:defRPr>
                      </a:pPr>
                      <a:r>
                        <a:t>Superior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DE80"/>
                          </a:solidFill>
                        </a:defRPr>
                      </a:pPr>
                      <a:r>
                        <a:t>Reduzido (Protegido)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DE80"/>
                          </a:solidFill>
                        </a:defRPr>
                      </a:pPr>
                      <a:r>
                        <a:t>Controlada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Ibovespa (Benchmark)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Sujeito a quedas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Elevado em Crises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Alta Volatilidade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HMM Passivo (Sem Bellman)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Sensível a ruídos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Intermediário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Intermediário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Moderada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3657600"/>
            <a:ext cx="5303520" cy="2560320"/>
          </a:xfrm>
          <a:prstGeom prst="roundRect">
            <a:avLst/>
          </a:prstGeom>
          <a:solidFill>
            <a:srgbClr val="0F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Mecanismo de Proteção Assimétrica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O desconto temporal γ e as probabilidades de transição do MDP fazem o K-NESIAN aumentar a Preferência pela Liquidez antes da consolidação de regimes de pânico.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657600"/>
            <a:ext cx="5394960" cy="2560320"/>
          </a:xfrm>
          <a:prstGeom prst="roundRect">
            <a:avLst/>
          </a:prstGeom>
          <a:solidFill>
            <a:srgbClr val="0F172A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7171"/>
                </a:solidFill>
              </a:defRPr>
            </a:pPr>
            <a:r>
              <a:t>Limitações em Mercados Laterais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Em períodos sem tendência definida (chop market) com falsas mudanças de regime, os custos operacionais (corretagem e slippage) reduzem a rentabilidade marginal.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  <a:latin typeface="Arial"/>
              </a:defRPr>
            </a:pPr>
            <a:r>
              <a:t>IA Generativa no Processo &amp; Roadmap Futuro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3657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  <a:latin typeface="Courier New"/>
              </a:defRPr>
            </a:pPr>
            <a:r>
              <a:t>AI STACK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Aplicação de IA Generativa (15%)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Formulação Matemática:</a:t>
            </a:r>
            <a:br/>
            <a:r>
              <a:t>  Estruturação da recompensa MDP e Equação de Bellman.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Engenharia de Código:</a:t>
            </a:r>
            <a:br/>
            <a:r>
              <a:t>  Refatoração dos módulos motor.py e portfolio.py.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Conceituação &amp; Naming:</a:t>
            </a:r>
            <a:br/>
            <a:r>
              <a:t>  Conexão da teoria de Keynes com o modelo quantitativo.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Diagnóstico de Backtest:</a:t>
            </a:r>
            <a:br/>
            <a:r>
              <a:t>  Análise de logs e identificação de gargalos de turnover.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94960" cy="4937760"/>
          </a:xfrm>
          <a:prstGeom prst="roundRect">
            <a:avLst/>
          </a:prstGeom>
          <a:solidFill>
            <a:srgbClr val="0F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Limitações &amp; Roadmap Futuro (10%)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Limitações Identificadas:</a:t>
            </a:r>
            <a:br/>
            <a:r>
              <a:t>  Sensibilidade do HMM à hiperparametrização de regimes e custos em volatilidade intraday.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IA &amp; Dados Alternativos:</a:t>
            </a:r>
            <a:br/>
            <a:r>
              <a:t>  Integração de sinais de notícias e relatórios via LLMs.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Reinforcement Learning:</a:t>
            </a:r>
            <a:br/>
            <a:r>
              <a:t>  Transição para Deep Q-Learning (DRL) com estado contínuo.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Execução Algorítmica:</a:t>
            </a:r>
            <a:br/>
            <a:r>
              <a:t>  Algoritmos inteligentes (TWAP/VWAP) para otimizar slippage.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